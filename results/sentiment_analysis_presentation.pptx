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IMDB Sentiment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Comparative Study: Naive Bayes vs Logistic Regression</a:t>
            </a:r>
          </a:p>
          <a:p>
            <a:r>
              <a:t>CS410 - Text Information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Dataset: 50,000 IMDB movie reviews (balanced positive/negative)</a:t>
            </a:r>
          </a:p>
          <a:p>
            <a:pPr>
              <a:defRPr sz="1600"/>
            </a:pPr>
            <a:r>
              <a:t>Preprocessing: Tokenization, stopword removal, TF-IDF vectorization</a:t>
            </a:r>
          </a:p>
          <a:p>
            <a:pPr>
              <a:defRPr sz="1600"/>
            </a:pPr>
            <a:r>
              <a:t>Features: 5,000 TF-IDF features (unigrams + bigrams)</a:t>
            </a:r>
          </a:p>
          <a:p>
            <a:pPr>
              <a:defRPr sz="1600"/>
            </a:pPr>
            <a:r>
              <a:t>Models: Multinomial Naive Bayes &amp; Logistic Regression</a:t>
            </a:r>
          </a:p>
          <a:p>
            <a:pPr>
              <a:defRPr sz="1600"/>
            </a:pPr>
            <a:r>
              <a:t>Split: 80% training (40,000) / 20% testing (10,000)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Text Preprocessing:</a:t>
            </a:r>
          </a:p>
          <a:p>
            <a:pPr>
              <a:defRPr sz="1400"/>
            </a:pPr>
            <a:r>
              <a:t>  • HTML/URL removal, lowercase conversion</a:t>
            </a:r>
          </a:p>
          <a:p>
            <a:pPr>
              <a:defRPr sz="1400"/>
            </a:pPr>
            <a:r>
              <a:t>  • Contraction expansion, special character handling</a:t>
            </a:r>
          </a:p>
          <a:p>
            <a:pPr>
              <a:defRPr sz="1400"/>
            </a:pPr>
            <a:r>
              <a:t>  • NLTK tokenization with stopword removal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Feature Engineering:</a:t>
            </a:r>
          </a:p>
          <a:p>
            <a:pPr>
              <a:defRPr sz="1400"/>
            </a:pPr>
            <a:r>
              <a:t>  • TF-IDF vectorization (min_df=5, max_df=0.8)</a:t>
            </a:r>
          </a:p>
          <a:p>
            <a:pPr>
              <a:defRPr sz="1400"/>
            </a:pPr>
            <a:r>
              <a:t>  • Unigrams and bigrams for context capture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Model Training:</a:t>
            </a:r>
          </a:p>
          <a:p>
            <a:pPr>
              <a:defRPr sz="1400"/>
            </a:pPr>
            <a:r>
              <a:t>  • Naive Bayes: Alpha=1.0 (Laplace smoothing)</a:t>
            </a:r>
          </a:p>
          <a:p>
            <a:pPr>
              <a:defRPr sz="1400"/>
            </a:pPr>
            <a:r>
              <a:t>  • Logistic Regression: C=1.0, max_iter=1000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F1 Score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0.8662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0.8997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Key Finding: Logistic Regression outperforms Naive Bayes across all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Visualization</a:t>
            </a:r>
          </a:p>
        </p:txBody>
      </p:sp>
      <p:pic>
        <p:nvPicPr>
          <p:cNvPr id="3" name="Picture 2" descr="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1681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Naive Bayes</a:t>
            </a:r>
          </a:p>
        </p:txBody>
      </p:sp>
      <p:pic>
        <p:nvPicPr>
          <p:cNvPr id="4" name="Picture 3" descr="naive_bayes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114800" cy="31722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Logistic Regression</a:t>
            </a:r>
          </a:p>
        </p:txBody>
      </p:sp>
      <p:pic>
        <p:nvPicPr>
          <p:cNvPr id="6" name="Picture 5" descr="logistic_regression_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4114800" cy="31722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Curves Comparison</a:t>
            </a:r>
          </a:p>
        </p:txBody>
      </p:sp>
      <p:pic>
        <p:nvPicPr>
          <p:cNvPr id="3" name="Picture 2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51012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Both models show excellent discrimination ability (AUC &gt; 0.93)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Importance: Naive Bayes</a:t>
            </a:r>
          </a:p>
        </p:txBody>
      </p:sp>
      <p:pic>
        <p:nvPicPr>
          <p:cNvPr id="3" name="Picture 2" descr="naive_bayes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269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Importance: Logistic Regression</a:t>
            </a:r>
          </a:p>
        </p:txBody>
      </p:sp>
      <p:pic>
        <p:nvPicPr>
          <p:cNvPr id="3" name="Picture 2" descr="logistic_regression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261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Agreement Analysis</a:t>
            </a:r>
          </a:p>
        </p:txBody>
      </p:sp>
      <p:pic>
        <p:nvPicPr>
          <p:cNvPr id="3" name="Picture 2" descr="prediction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66526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High agreement (93.5%) indicates both models learn similar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Confidence</a:t>
            </a:r>
          </a:p>
        </p:txBody>
      </p:sp>
      <p:pic>
        <p:nvPicPr>
          <p:cNvPr id="3" name="Picture 2" descr="confidenc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23706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Logistic Regression achieves 89.87% accuracy vs 86.44% for Naive Bayes</a:t>
            </a:r>
          </a:p>
          <a:p>
            <a:pPr>
              <a:defRPr sz="1600"/>
            </a:pPr>
            <a:r>
              <a:t>Both models show strong performance (F1 &gt; 0.86)</a:t>
            </a:r>
          </a:p>
          <a:p>
            <a:pPr>
              <a:defRPr sz="1600"/>
            </a:pPr>
            <a:r>
              <a:t>Logistic Regression has better precision (89.13% vs 85.46%)</a:t>
            </a:r>
          </a:p>
          <a:p>
            <a:pPr>
              <a:defRPr sz="1600"/>
            </a:pPr>
            <a:r>
              <a:t>High model agreement (93.5%) suggests robust feature learning</a:t>
            </a:r>
          </a:p>
          <a:p>
            <a:pPr>
              <a:defRPr sz="1600"/>
            </a:pPr>
            <a:r>
              <a:t>Feature importance reveals interpretable sentiment indicators</a:t>
            </a:r>
          </a:p>
          <a:p>
            <a:pPr>
              <a:defRPr sz="1600"/>
            </a:pPr>
            <a:r>
              <a:t>Both models handle class imbalance well (balanced dataset)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Challenge: Sparse matrix handling in train/test split</a:t>
            </a:r>
          </a:p>
          <a:p>
            <a:pPr>
              <a:defRPr sz="1300"/>
            </a:pPr>
            <a:r>
              <a:t>  → Solution: Used .item() to extract sparse matrices from npz files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Challenge: Feature importance visualization showing only positive features</a:t>
            </a:r>
          </a:p>
          <a:p>
            <a:pPr>
              <a:defRPr sz="1300"/>
            </a:pPr>
            <a:r>
              <a:t>  → Solution: Separated positive/negative features before selection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Challenge: NLTK tokenizer dependencies missing</a:t>
            </a:r>
          </a:p>
          <a:p>
            <a:pPr>
              <a:defRPr sz="1300"/>
            </a:pPr>
            <a:r>
              <a:t>  → Solution: Downloaded punkt_tab tokenizer data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Challenge: Balancing model interpretability with performance</a:t>
            </a:r>
          </a:p>
          <a:p>
            <a:pPr>
              <a:defRPr sz="1300"/>
            </a:pPr>
            <a:r>
              <a:t>  → Solution: Used both probabilistic (NB) and linear (LR) models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Logistic Regression is the superior model for this task</a:t>
            </a:r>
          </a:p>
          <a:p>
            <a:pPr>
              <a:defRPr sz="1500"/>
            </a:pPr>
            <a:r>
              <a:t>TF-IDF with bigrams effectively captures sentiment context</a:t>
            </a:r>
          </a:p>
          <a:p>
            <a:pPr>
              <a:defRPr sz="1500"/>
            </a:pPr>
            <a:r>
              <a:t>Both models demonstrate strong generalization ability</a:t>
            </a:r>
          </a:p>
          <a:p>
            <a:pPr>
              <a:defRPr sz="1500"/>
            </a:pPr>
            <a:r>
              <a:t>Feature analysis provides interpretable sentiment indicators</a:t>
            </a:r>
          </a:p>
          <a:p>
            <a:pPr>
              <a:defRPr sz="1500"/>
            </a:pPr>
            <a:r>
              <a:t>System ready for production deployment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Future Work:</a:t>
            </a:r>
          </a:p>
          <a:p>
            <a:pPr>
              <a:defRPr sz="1500"/>
            </a:pPr>
            <a:r>
              <a:t>  • Deep learning models (LSTM, BERT)</a:t>
            </a:r>
          </a:p>
          <a:p>
            <a:pPr>
              <a:defRPr sz="1500"/>
            </a:pPr>
            <a:r>
              <a:t>  • Cross-domain sentiment analysis</a:t>
            </a:r>
          </a:p>
          <a:p>
            <a:pPr>
              <a:defRPr sz="1500"/>
            </a:pPr>
            <a:r>
              <a:t>  • Real-time prediction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